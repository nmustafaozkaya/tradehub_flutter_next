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</p:sldIdLst>
  <p:sldSz cx="9144000" cy="5143500" type="screen16x9"/>
  <p:notesSz cx="5143500" cy="9144000"/>
  <p:embeddedFontLst>
    <p:embeddedFont>
      <p:font typeface="Segoe UI" panose="020B0502040204020203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799" autoAdjust="0"/>
  </p:normalViewPr>
  <p:slideViewPr>
    <p:cSldViewPr snapToGrid="0" snapToObjects="1">
      <p:cViewPr varScale="1">
        <p:scale>
          <a:sx n="132" d="100"/>
          <a:sy n="132" d="100"/>
        </p:scale>
        <p:origin x="10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010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tkakademi.gov.tr/" TargetMode="External"/><Relationship Id="rId3" Type="http://schemas.openxmlformats.org/officeDocument/2006/relationships/hyperlink" Target="https://www.adimyazilim.com.tr/" TargetMode="External"/><Relationship Id="rId7" Type="http://schemas.openxmlformats.org/officeDocument/2006/relationships/hyperlink" Target="https://reactnative.dev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nextjs.org/" TargetMode="External"/><Relationship Id="rId5" Type="http://schemas.openxmlformats.org/officeDocument/2006/relationships/hyperlink" Target="https://learn.microsoft.com/en-us/sql/t-sql/language-reference" TargetMode="External"/><Relationship Id="rId4" Type="http://schemas.openxmlformats.org/officeDocument/2006/relationships/hyperlink" Target="https://www.microsoft.com/en-us/sql-server/" TargetMode="External"/><Relationship Id="rId9" Type="http://schemas.openxmlformats.org/officeDocument/2006/relationships/hyperlink" Target="https://docs.flutter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23079" y="1518387"/>
            <a:ext cx="418857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tr-TR" sz="2400">
                <a:latin typeface="Segoe UI" panose="020B0502040204020203" pitchFamily="34" charset="0"/>
                <a:cs typeface="Segoe UI" panose="020B0502040204020203" pitchFamily="34" charset="0"/>
              </a:rPr>
              <a:t>FE400 - Co-op / Engineering Internship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94479" y="195511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Adım Yazılım · Software Development Internship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06993" y="2283869"/>
            <a:ext cx="1877467" cy="266402"/>
          </a:xfrm>
          <a:prstGeom prst="roundRect">
            <a:avLst>
              <a:gd name="adj" fmla="val 38315"/>
            </a:avLst>
          </a:prstGeom>
          <a:solidFill>
            <a:srgbClr val="DFE1EC"/>
          </a:solidFill>
          <a:ln/>
        </p:spPr>
        <p:txBody>
          <a:bodyPr/>
          <a:lstStyle/>
          <a:p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46845" y="2318399"/>
            <a:ext cx="21645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tr-TR" sz="900">
                <a:latin typeface="Segoe UI" panose="020B0502040204020203" pitchFamily="34" charset="0"/>
                <a:cs typeface="Segoe UI" panose="020B0502040204020203" pitchFamily="34" charset="0"/>
              </a:rPr>
              <a:t>2 February 2026 – 22 May 2026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A5B637-F9C5-8A0A-57DE-660D90E7A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551" y="4162288"/>
            <a:ext cx="3448531" cy="981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0A1FC3-C6A8-240E-4912-534550A678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39" t="22524" r="9024" b="44590"/>
          <a:stretch>
            <a:fillRect/>
          </a:stretch>
        </p:blipFill>
        <p:spPr bwMode="auto">
          <a:xfrm>
            <a:off x="263164" y="3171781"/>
            <a:ext cx="2233750" cy="1772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47">
            <a:extLst>
              <a:ext uri="{FF2B5EF4-FFF2-40B4-BE49-F238E27FC236}">
                <a16:creationId xmlns:a16="http://schemas.microsoft.com/office/drawing/2014/main" id="{90049E23-8406-B58E-0543-2CBCAF906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9386" r="-1753" b="29776"/>
          <a:stretch>
            <a:fillRect/>
          </a:stretch>
        </p:blipFill>
        <p:spPr bwMode="auto">
          <a:xfrm>
            <a:off x="68282" y="105275"/>
            <a:ext cx="2615311" cy="2961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B90111F-F778-81DA-BC28-DD6E3E58E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536" y="-62618"/>
            <a:ext cx="1541234" cy="157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FF8A9ECD-3102-2B20-0A9A-1693440FCC41}"/>
              </a:ext>
            </a:extLst>
          </p:cNvPr>
          <p:cNvSpPr txBox="1"/>
          <p:nvPr/>
        </p:nvSpPr>
        <p:spPr>
          <a:xfrm>
            <a:off x="2730166" y="3561486"/>
            <a:ext cx="59979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tr-TR" sz="2000" i="0" strike="noStrike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NURETTİN MUSTAFA ÖZKAYA-211501024</a:t>
            </a:r>
          </a:p>
          <a:p>
            <a:pPr algn="ctr"/>
            <a:r>
              <a:rPr lang="tr-TR" sz="2000">
                <a:latin typeface="Segoe UI" panose="020B0502040204020203" pitchFamily="34" charset="0"/>
                <a:cs typeface="Segoe UI" panose="020B0502040204020203" pitchFamily="34" charset="0"/>
              </a:rPr>
              <a:t>Department of Computer Engineering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BA71939C-E01D-C375-599B-3600DB1ADA4B}"/>
              </a:ext>
            </a:extLst>
          </p:cNvPr>
          <p:cNvSpPr txBox="1"/>
          <p:nvPr/>
        </p:nvSpPr>
        <p:spPr>
          <a:xfrm>
            <a:off x="3517637" y="2778006"/>
            <a:ext cx="67273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1">
                <a:latin typeface="Segoe UI" panose="020B0502040204020203" pitchFamily="34" charset="0"/>
                <a:cs typeface="Segoe UI" panose="020B0502040204020203" pitchFamily="34" charset="0"/>
              </a:rPr>
              <a:t>TradeHub: An End-to-End E-Commerce Ecosystem</a:t>
            </a:r>
            <a:r>
              <a:rPr lang="tr-TR" sz="1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tr-TR" sz="1400" i="1">
                <a:latin typeface="Segoe UI" panose="020B0502040204020203" pitchFamily="34" charset="0"/>
                <a:cs typeface="Segoe UI" panose="020B0502040204020203" pitchFamily="34" charset="0"/>
              </a:rPr>
              <a:t>(Next.js, Flutter &amp; MSSQL)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13916"/>
            <a:ext cx="1361703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661169"/>
            <a:ext cx="16392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COMPANY OVERVIEW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94654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Adım Yazılım</a:t>
            </a:r>
            <a:endParaRPr lang="en-US" sz="2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99871" y="157518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Who We Are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52967" y="1856209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>
              <a:lnSpc>
                <a:spcPct val="133000"/>
              </a:lnSpc>
            </a:pPr>
            <a:r>
              <a:rPr lang="tr-TR" sz="1100">
                <a:latin typeface="Segoe UI" panose="020B0502040204020203" pitchFamily="34" charset="0"/>
                <a:cs typeface="Segoe UI" panose="020B0502040204020203" pitchFamily="34" charset="0"/>
              </a:rPr>
              <a:t>A software company based in Gaziantep Teknopark, delivering ERP systems, web applications, mobile solutions, database services, and digital transformation technologies.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752967" y="24522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Core Services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65206" y="2816177"/>
            <a:ext cx="432777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Custom software development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Web &amp; mobile applications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Database architecture &amp; consulting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API design &amp; integration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225F5F-B40E-120A-26B2-DAC359356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523" y="4442595"/>
            <a:ext cx="1981477" cy="647790"/>
          </a:xfrm>
          <a:prstGeom prst="rect">
            <a:avLst/>
          </a:prstGeom>
        </p:spPr>
      </p:pic>
      <p:pic>
        <p:nvPicPr>
          <p:cNvPr id="10" name="Picture 45">
            <a:extLst>
              <a:ext uri="{FF2B5EF4-FFF2-40B4-BE49-F238E27FC236}">
                <a16:creationId xmlns:a16="http://schemas.microsoft.com/office/drawing/2014/main" id="{ADDAE847-4D24-9FBC-496A-CBB92D4FFB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79" y="1559234"/>
            <a:ext cx="4376663" cy="328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6F1C9DF1-B0F7-4CD0-4248-BC4711BAA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1189" y="457112"/>
            <a:ext cx="1666875" cy="666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41859"/>
            <a:ext cx="879946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989112"/>
            <a:ext cx="115751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TECH STACK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27449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Technologies Used</a:t>
            </a:r>
            <a:endParaRPr lang="en-US" sz="2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30078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390775"/>
            <a:ext cx="18699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Microsoft SQL Server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6119" y="269728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Relational database design, T-SQL queries, optimization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60553" y="239077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Next.js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660553" y="2697287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React-based SSR framework, routing, API integration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207618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6683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Flutter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96119" y="397482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Cross-platform mobile UI, state management, Dart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660553" y="36683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REST APIs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4660553" y="3974827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Designing, consuming, and testing API endpoints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AD71EE-1399-1708-B8A8-C37E7E7F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523" y="4429352"/>
            <a:ext cx="1981477" cy="647790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9A374706-EF16-1B47-626E-F441860FD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640249" y="2022201"/>
            <a:ext cx="283518" cy="283518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245C4110-BE9A-2041-DD94-8C55981AE2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553" y="3227517"/>
            <a:ext cx="443894" cy="443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4886" y="345122"/>
            <a:ext cx="1645921" cy="389228"/>
          </a:xfrm>
          <a:prstGeom prst="roundRect">
            <a:avLst>
              <a:gd name="adj" fmla="val 41217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2085" y="495585"/>
            <a:ext cx="1999653" cy="468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DATABASE DEVELOPMENT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65431" y="1322326"/>
            <a:ext cx="3043386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Designing with MSSQL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12721" y="1706612"/>
            <a:ext cx="15647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Key Activities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824168" y="1952413"/>
            <a:ext cx="2948806" cy="159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tr-TR" sz="1100">
                <a:latin typeface="Segoe UI" panose="020B0502040204020203" pitchFamily="34" charset="0"/>
                <a:cs typeface="Segoe UI" panose="020B0502040204020203" pitchFamily="34" charset="0"/>
              </a:rPr>
              <a:t>Designed normalized relational schemas</a:t>
            </a:r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tr-TR" sz="1100">
                <a:latin typeface="Segoe UI" panose="020B0502040204020203" pitchFamily="34" charset="0"/>
                <a:cs typeface="Segoe UI" panose="020B0502040204020203" pitchFamily="34" charset="0"/>
              </a:rPr>
              <a:t>Created database tables, foreign keys, and indexes</a:t>
            </a:r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tr-TR" sz="1100">
                <a:latin typeface="Segoe UI" panose="020B0502040204020203" pitchFamily="34" charset="0"/>
                <a:cs typeface="Segoe UI" panose="020B0502040204020203" pitchFamily="34" charset="0"/>
              </a:rPr>
              <a:t>Developed complex T-SQL queries and stored procedures </a:t>
            </a:r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tr-TR" sz="1100">
                <a:latin typeface="Segoe UI" panose="020B0502040204020203" pitchFamily="34" charset="0"/>
                <a:cs typeface="Segoe UI" panose="020B0502040204020203" pitchFamily="34" charset="0"/>
              </a:rPr>
              <a:t>Optimized query performance for large datasets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F51BC7-15EC-C6B3-457A-45A059404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523" y="4482361"/>
            <a:ext cx="1981477" cy="647790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1616499A-4FA1-546E-0996-520D4108C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3" y="964480"/>
            <a:ext cx="5731748" cy="29818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181" y="344356"/>
            <a:ext cx="1300386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9998" y="391609"/>
            <a:ext cx="15779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WEB DEVELOPMENT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0181" y="676987"/>
            <a:ext cx="41918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Building with Next.js</a:t>
            </a:r>
            <a:endParaRPr lang="en-US" sz="2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93121" y="14975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What I Built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5961" y="1743459"/>
            <a:ext cx="3478039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Responsive frontend components with React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Server-side rendering for performance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REST API integration &amp; data fetching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Modern UI/UX following design guidelines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9CFE16-7C61-0D0B-AB1B-F28958305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523" y="4487922"/>
            <a:ext cx="1981477" cy="647790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9167D199-A7BB-62EF-DB30-258A5ABD6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" y="1280592"/>
            <a:ext cx="5450920" cy="2582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976" y="404047"/>
            <a:ext cx="1472580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0793" y="451300"/>
            <a:ext cx="17501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MOBILE DEVELOPMENT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50976" y="736678"/>
            <a:ext cx="63636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Cross-Platform Apps with Flutter</a:t>
            </a:r>
            <a:endParaRPr lang="en-US" sz="2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937864" y="27601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UI &amp; Layouts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879128" y="311922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Responsive widgets, adaptive layouts for iOS &amp; Android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871567" y="209004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State Management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871567" y="254777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Provider pattern, reactive data flow, clean architecture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871567" y="3207539"/>
            <a:ext cx="18203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API Communication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871567" y="357651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HTTP requests, JSON parsing, async data handling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676D97-A896-0517-57F1-3E69D9F3D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523" y="4442415"/>
            <a:ext cx="1981477" cy="64779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A0B206B9-41B5-2E93-733C-67918057D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384" y="275824"/>
            <a:ext cx="1884640" cy="1413480"/>
          </a:xfrm>
          <a:prstGeom prst="rect">
            <a:avLst/>
          </a:prstGeom>
        </p:spPr>
      </p:pic>
      <p:pic>
        <p:nvPicPr>
          <p:cNvPr id="19" name="Resim 18">
            <a:extLst>
              <a:ext uri="{FF2B5EF4-FFF2-40B4-BE49-F238E27FC236}">
                <a16:creationId xmlns:a16="http://schemas.microsoft.com/office/drawing/2014/main" id="{D5228A5E-062D-9912-3439-6A5DFD894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65" y="1283622"/>
            <a:ext cx="1654901" cy="36775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381074"/>
            <a:ext cx="742727" cy="264765"/>
          </a:xfrm>
          <a:prstGeom prst="roundRect">
            <a:avLst>
              <a:gd name="adj" fmla="val 37347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779" y="426988"/>
            <a:ext cx="1025649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PROJECTS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0640" y="699046"/>
            <a:ext cx="468533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Projects &amp; Contributions</a:t>
            </a:r>
            <a:endParaRPr lang="en-US" sz="2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21" y="1327696"/>
            <a:ext cx="4805958" cy="2852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4045" y="3518439"/>
            <a:ext cx="1194657" cy="2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Mobile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08449" y="3518439"/>
            <a:ext cx="1194658" cy="2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Web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78306" y="3518439"/>
            <a:ext cx="1194657" cy="230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Database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0640" y="4228132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Contributed across the full </a:t>
            </a:r>
            <a:r>
              <a:rPr lang="en-US" sz="105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stack from </a:t>
            </a:r>
            <a:r>
              <a:rPr lang="en-US" sz="105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database architecture to deployed mobile and web </a:t>
            </a:r>
            <a:r>
              <a:rPr lang="en-US" sz="105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applications  </a:t>
            </a:r>
            <a:r>
              <a:rPr lang="en-US" sz="105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in real client-facing projects.</a:t>
            </a: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F35AE8-7034-5F05-4628-48C7F5015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764" y="4495710"/>
            <a:ext cx="1981477" cy="647790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3752CABA-83DF-B950-17D6-83E8522C2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756" y="2005692"/>
            <a:ext cx="485855" cy="515202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C3C80338-01AF-DF66-4AFE-E71751D0DB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691" y="1962423"/>
            <a:ext cx="574618" cy="609327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05B7F861-5B9F-51A2-FAD4-36624FEDD1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388634" y="2005692"/>
            <a:ext cx="366732" cy="366732"/>
          </a:xfrm>
          <a:prstGeom prst="rect">
            <a:avLst/>
          </a:prstGeom>
        </p:spPr>
      </p:pic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CCA2661B-FA1F-B63B-6622-01EB34960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1924" y="2119653"/>
            <a:ext cx="283518" cy="283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488917" y="573092"/>
            <a:ext cx="937468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C6C9D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0" y="628371"/>
            <a:ext cx="12150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6C9DC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CONCLUSION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75062" y="951368"/>
            <a:ext cx="49384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Summary &amp; Future Goals</a:t>
            </a:r>
            <a:endParaRPr lang="en-US" sz="2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357226" y="1714946"/>
            <a:ext cx="2290465" cy="1506810"/>
          </a:xfrm>
          <a:prstGeom prst="roundRect">
            <a:avLst>
              <a:gd name="adj" fmla="val 846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03747" y="1861468"/>
            <a:ext cx="1908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Internship Outcomes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03747" y="2167979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Delivered real features across database, web, and mobile layers in a production environment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789449" y="1714946"/>
            <a:ext cx="2290539" cy="1506810"/>
          </a:xfrm>
          <a:prstGeom prst="roundRect">
            <a:avLst>
              <a:gd name="adj" fmla="val 846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5970" y="18614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Lessons Learned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35970" y="2167979"/>
            <a:ext cx="199749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Real-world software engineering demands iteration, communication, and ownership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57226" y="3363516"/>
            <a:ext cx="4722763" cy="1053182"/>
          </a:xfrm>
          <a:prstGeom prst="roundRect">
            <a:avLst>
              <a:gd name="adj" fmla="val 1211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3747" y="35100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Segoe UI" panose="020B0502040204020203" pitchFamily="34" charset="0"/>
                <a:ea typeface="Montserrat Medium" pitchFamily="34" charset="-122"/>
                <a:cs typeface="Segoe UI" panose="020B0502040204020203" pitchFamily="34" charset="0"/>
              </a:rPr>
              <a:t>Next Steps</a:t>
            </a:r>
            <a:endParaRPr lang="en-US"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03747" y="3816548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Segoe UI" panose="020B0502040204020203" pitchFamily="34" charset="0"/>
                <a:ea typeface="Inter Light" pitchFamily="34" charset="-122"/>
                <a:cs typeface="Segoe UI" panose="020B0502040204020203" pitchFamily="34" charset="0"/>
              </a:rPr>
              <a:t>Pursue full-stack roles, deepen cloud expertise, and contribute to open-source projects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6E45B6-ED40-FB8A-DF5F-3BB83D538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523" y="4495710"/>
            <a:ext cx="1981477" cy="647790"/>
          </a:xfrm>
          <a:prstGeom prst="rect">
            <a:avLst/>
          </a:prstGeom>
        </p:spPr>
      </p:pic>
      <p:pic>
        <p:nvPicPr>
          <p:cNvPr id="15" name="Picture 43">
            <a:extLst>
              <a:ext uri="{FF2B5EF4-FFF2-40B4-BE49-F238E27FC236}">
                <a16:creationId xmlns:a16="http://schemas.microsoft.com/office/drawing/2014/main" id="{BD178914-A241-8A6C-594B-5DED1DE5A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1" y="913917"/>
            <a:ext cx="4146714" cy="3108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1DDDA46F-661D-637D-24BD-3F76F9C323EA}"/>
              </a:ext>
            </a:extLst>
          </p:cNvPr>
          <p:cNvSpPr txBox="1"/>
          <p:nvPr/>
        </p:nvSpPr>
        <p:spPr>
          <a:xfrm>
            <a:off x="384629" y="3850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0" i="0" u="none" strike="noStrike">
                <a:solidFill>
                  <a:srgbClr val="0C0C0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REFERENCES</a:t>
            </a:r>
            <a:endParaRPr lang="tr-T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2E21CE8-36E2-1349-CE64-0C6017BE6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364" y="3295392"/>
            <a:ext cx="3124636" cy="1848108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903D0BD9-E48D-F78A-885A-1C4830E9D2DD}"/>
              </a:ext>
            </a:extLst>
          </p:cNvPr>
          <p:cNvSpPr txBox="1"/>
          <p:nvPr/>
        </p:nvSpPr>
        <p:spPr>
          <a:xfrm>
            <a:off x="333829" y="902716"/>
            <a:ext cx="838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Adım Yazılım, "SQL Server Training Content." Adım Yazılım.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https://www.adimyazilim.com.tr/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Microsoft, "SQL Server Official Documentation." Microsoft.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https://www.microsoft.com/en-us/sql-server/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Microsoft, "Transact-SQL Reference." Microsoft Docs.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https://learn.microsoft.com/en-us/sql/t-sql/language-reference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Vercel, "Next.js Official Documentation." Vercel.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6"/>
              </a:rPr>
              <a:t>https://nextjs.org/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React Native, "React Native Official Documentation." Meta.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7"/>
              </a:rPr>
              <a:t>https://reactnative.dev/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BTK Akademi, "Course Materials." BTK Akademi.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8"/>
              </a:rPr>
              <a:t>https://www.btkakademi.gov.tr/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Flutter Documentation, "Flutter Documentation." Flutter. [Online]. Available: </a:t>
            </a:r>
            <a:r>
              <a:rPr lang="en-US" sz="1400" u="sng">
                <a:latin typeface="Segoe UI" panose="020B0502040204020203" pitchFamily="34" charset="0"/>
                <a:cs typeface="Segoe UI" panose="020B0502040204020203" pitchFamily="34" charset="0"/>
                <a:hlinkClick r:id="rId9"/>
              </a:rPr>
              <a:t>https://docs.flutter.dev/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[Accessed: May 2026].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tr-T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74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542</Words>
  <Application>Microsoft Office PowerPoint</Application>
  <PresentationFormat>Ekran Gösterisi (16:9)</PresentationFormat>
  <Paragraphs>79</Paragraphs>
  <Slides>9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Segoe UI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Nurettin Mustafa Özkaya</cp:lastModifiedBy>
  <cp:revision>25</cp:revision>
  <dcterms:created xsi:type="dcterms:W3CDTF">2026-05-30T14:30:37Z</dcterms:created>
  <dcterms:modified xsi:type="dcterms:W3CDTF">2026-06-10T13:33:44Z</dcterms:modified>
</cp:coreProperties>
</file>